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etrona Bold" charset="1" panose="00000000000000000000"/>
      <p:regular r:id="rId15"/>
    </p:embeddedFont>
    <p:embeddedFont>
      <p:font typeface="Inter" charset="1" panose="02000503000000020004"/>
      <p:regular r:id="rId16"/>
    </p:embeddedFont>
    <p:embeddedFont>
      <p:font typeface="Inter Bold" charset="1" panose="0200050300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850038" y="1716434"/>
            <a:ext cx="9445285" cy="96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0"/>
              </a:lnSpc>
            </a:pPr>
            <a:r>
              <a:rPr lang="en-US" sz="585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CityPulse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0038" y="3052915"/>
            <a:ext cx="9445285" cy="262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5"/>
              </a:lnSpc>
            </a:pPr>
            <a:r>
              <a:rPr lang="en-US" sz="80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The Live Civic Health 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50038" y="6026648"/>
            <a:ext cx="9445285" cy="98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insights for a healthier, more connected city — combining weather, transit, air quality, and civic complaints into one unified view.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0038" y="7329040"/>
            <a:ext cx="1733807" cy="430711"/>
            <a:chOff x="0" y="0"/>
            <a:chExt cx="2311743" cy="5742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11781" cy="574294"/>
            </a:xfrm>
            <a:custGeom>
              <a:avLst/>
              <a:gdLst/>
              <a:ahLst/>
              <a:cxnLst/>
              <a:rect r="r" b="b" t="t" l="l"/>
              <a:pathLst>
                <a:path h="574294" w="231178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184781" y="0"/>
                  </a:lnTo>
                  <a:cubicBezTo>
                    <a:pt x="2254885" y="0"/>
                    <a:pt x="2311781" y="56896"/>
                    <a:pt x="2311781" y="127000"/>
                  </a:cubicBezTo>
                  <a:lnTo>
                    <a:pt x="2311781" y="447294"/>
                  </a:lnTo>
                  <a:cubicBezTo>
                    <a:pt x="2311781" y="517398"/>
                    <a:pt x="2254885" y="574294"/>
                    <a:pt x="2184781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020145" y="7423547"/>
            <a:ext cx="2307965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7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SMART CITY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720767" y="7324277"/>
            <a:ext cx="2596391" cy="440236"/>
            <a:chOff x="0" y="0"/>
            <a:chExt cx="3461855" cy="5869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61766" cy="586994"/>
            </a:xfrm>
            <a:custGeom>
              <a:avLst/>
              <a:gdLst/>
              <a:ahLst/>
              <a:cxnLst/>
              <a:rect r="r" b="b" t="t" l="l"/>
              <a:pathLst>
                <a:path h="586994" w="3461766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3331972" y="0"/>
                  </a:lnTo>
                  <a:cubicBezTo>
                    <a:pt x="3403727" y="0"/>
                    <a:pt x="3461766" y="58166"/>
                    <a:pt x="3461766" y="129794"/>
                  </a:cubicBezTo>
                  <a:lnTo>
                    <a:pt x="3461766" y="457200"/>
                  </a:lnTo>
                  <a:cubicBezTo>
                    <a:pt x="3461766" y="528955"/>
                    <a:pt x="3403600" y="586994"/>
                    <a:pt x="3331972" y="586994"/>
                  </a:cubicBezTo>
                  <a:lnTo>
                    <a:pt x="129794" y="586994"/>
                  </a:lnTo>
                  <a:cubicBezTo>
                    <a:pt x="58166" y="586994"/>
                    <a:pt x="0" y="528828"/>
                    <a:pt x="0" y="45720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16" r="-2" b="-64913"/>
              </a:stretch>
            </a:blipFill>
            <a:ln w="9525" cap="sq">
              <a:solidFill>
                <a:srgbClr val="007EB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895627" y="7423547"/>
            <a:ext cx="3161033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725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CIVIC TECHNOLOGY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449308" y="7324277"/>
            <a:ext cx="3761984" cy="440236"/>
            <a:chOff x="0" y="0"/>
            <a:chExt cx="5015979" cy="5869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15992" cy="586994"/>
            </a:xfrm>
            <a:custGeom>
              <a:avLst/>
              <a:gdLst/>
              <a:ahLst/>
              <a:cxnLst/>
              <a:rect r="r" b="b" t="t" l="l"/>
              <a:pathLst>
                <a:path h="586994" w="5015992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4886198" y="0"/>
                  </a:lnTo>
                  <a:cubicBezTo>
                    <a:pt x="4957953" y="0"/>
                    <a:pt x="5015992" y="58166"/>
                    <a:pt x="5015992" y="129794"/>
                  </a:cubicBezTo>
                  <a:lnTo>
                    <a:pt x="5015992" y="457200"/>
                  </a:lnTo>
                  <a:cubicBezTo>
                    <a:pt x="5015992" y="528955"/>
                    <a:pt x="4957826" y="586994"/>
                    <a:pt x="4886198" y="586994"/>
                  </a:cubicBezTo>
                  <a:lnTo>
                    <a:pt x="129794" y="586994"/>
                  </a:lnTo>
                  <a:cubicBezTo>
                    <a:pt x="58166" y="586994"/>
                    <a:pt x="0" y="528828"/>
                    <a:pt x="0" y="45720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504" r="0" b="-116502"/>
              </a:stretch>
            </a:blipFill>
            <a:ln w="9525" cap="sq">
              <a:solidFill>
                <a:srgbClr val="007EB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624178" y="7423547"/>
            <a:ext cx="4326626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725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REAL-TIME DATA INTEGRATION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50038" y="8002486"/>
            <a:ext cx="10359666" cy="52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Team:</a:t>
            </a:r>
            <a:r>
              <a:rPr lang="en-US" sz="21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Coding Knights · Amity University Rajasthan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11774" y="152717"/>
            <a:ext cx="7333464" cy="9771145"/>
            <a:chOff x="0" y="0"/>
            <a:chExt cx="9778086" cy="130283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78111" cy="13028422"/>
            </a:xfrm>
            <a:custGeom>
              <a:avLst/>
              <a:gdLst/>
              <a:ahLst/>
              <a:cxnLst/>
              <a:rect r="r" b="b" t="t" l="l"/>
              <a:pathLst>
                <a:path h="13028422" w="9778111">
                  <a:moveTo>
                    <a:pt x="0" y="0"/>
                  </a:moveTo>
                  <a:lnTo>
                    <a:pt x="9778111" y="0"/>
                  </a:lnTo>
                  <a:lnTo>
                    <a:pt x="9778111" y="13028422"/>
                  </a:lnTo>
                  <a:lnTo>
                    <a:pt x="0" y="13028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31" r="0" b="-23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395977" y="42015"/>
            <a:ext cx="6846265" cy="10202980"/>
            <a:chOff x="0" y="0"/>
            <a:chExt cx="9128354" cy="1360397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28379" cy="13603987"/>
            </a:xfrm>
            <a:custGeom>
              <a:avLst/>
              <a:gdLst/>
              <a:ahLst/>
              <a:cxnLst/>
              <a:rect r="r" b="b" t="t" l="l"/>
              <a:pathLst>
                <a:path h="13603987" w="9128379">
                  <a:moveTo>
                    <a:pt x="0" y="0"/>
                  </a:moveTo>
                  <a:lnTo>
                    <a:pt x="9128379" y="0"/>
                  </a:lnTo>
                  <a:lnTo>
                    <a:pt x="9128379" y="13603987"/>
                  </a:lnTo>
                  <a:lnTo>
                    <a:pt x="0" y="1360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5" r="0" b="-32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10" y="787003"/>
            <a:ext cx="9445285" cy="169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8"/>
              </a:lnSpc>
            </a:pPr>
            <a:r>
              <a:rPr lang="en-US" sz="517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The Problem: City Information is Scattered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10" y="2752725"/>
            <a:ext cx="9445285" cy="121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19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Cities generate data from many sources — weather, traffic, transit, air quality, power, and civic complaints — but these feeds are siloed, differently formatted, and updated at different times.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447" y="4213327"/>
            <a:ext cx="9454810" cy="3682898"/>
            <a:chOff x="0" y="0"/>
            <a:chExt cx="12606414" cy="49105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06400" cy="4910455"/>
            </a:xfrm>
            <a:custGeom>
              <a:avLst/>
              <a:gdLst/>
              <a:ahLst/>
              <a:cxnLst/>
              <a:rect r="r" b="b" t="t" l="l"/>
              <a:pathLst>
                <a:path h="4910455" w="12606400">
                  <a:moveTo>
                    <a:pt x="0" y="141732"/>
                  </a:moveTo>
                  <a:cubicBezTo>
                    <a:pt x="0" y="63500"/>
                    <a:pt x="63500" y="0"/>
                    <a:pt x="141732" y="0"/>
                  </a:cubicBezTo>
                  <a:lnTo>
                    <a:pt x="12464669" y="0"/>
                  </a:lnTo>
                  <a:cubicBezTo>
                    <a:pt x="12543027" y="0"/>
                    <a:pt x="12606400" y="63500"/>
                    <a:pt x="12606400" y="141732"/>
                  </a:cubicBezTo>
                  <a:lnTo>
                    <a:pt x="12606400" y="4768723"/>
                  </a:lnTo>
                  <a:cubicBezTo>
                    <a:pt x="12606400" y="4847082"/>
                    <a:pt x="12542900" y="4910455"/>
                    <a:pt x="12464669" y="4910455"/>
                  </a:cubicBezTo>
                  <a:lnTo>
                    <a:pt x="141732" y="4910455"/>
                  </a:lnTo>
                  <a:cubicBezTo>
                    <a:pt x="63500" y="4910582"/>
                    <a:pt x="0" y="4847082"/>
                    <a:pt x="0" y="4768723"/>
                  </a:cubicBezTo>
                  <a:close/>
                </a:path>
              </a:pathLst>
            </a:custGeom>
            <a:solidFill>
              <a:srgbClr val="CCEEFF"/>
            </a:solidFill>
            <a:ln w="9525" cap="sq">
              <a:solidFill>
                <a:srgbClr val="B2D4E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1735" y="4227614"/>
            <a:ext cx="9426235" cy="1827162"/>
            <a:chOff x="0" y="0"/>
            <a:chExt cx="12568314" cy="2436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68301" cy="2436241"/>
            </a:xfrm>
            <a:custGeom>
              <a:avLst/>
              <a:gdLst/>
              <a:ahLst/>
              <a:cxnLst/>
              <a:rect r="r" b="b" t="t" l="l"/>
              <a:pathLst>
                <a:path h="2436241" w="12568301">
                  <a:moveTo>
                    <a:pt x="117856" y="0"/>
                  </a:moveTo>
                  <a:lnTo>
                    <a:pt x="12450445" y="0"/>
                  </a:lnTo>
                  <a:cubicBezTo>
                    <a:pt x="12515469" y="0"/>
                    <a:pt x="12568301" y="52705"/>
                    <a:pt x="12568301" y="117856"/>
                  </a:cubicBezTo>
                  <a:lnTo>
                    <a:pt x="12568301" y="2436241"/>
                  </a:lnTo>
                  <a:lnTo>
                    <a:pt x="0" y="2436241"/>
                  </a:lnTo>
                  <a:lnTo>
                    <a:pt x="0" y="117856"/>
                  </a:lnTo>
                  <a:cubicBezTo>
                    <a:pt x="0" y="52705"/>
                    <a:pt x="52705" y="0"/>
                    <a:pt x="117856" y="0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54147" y="4451452"/>
            <a:ext cx="8921429" cy="45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55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👤</a:t>
            </a:r>
            <a:r>
              <a:rPr lang="en-US" sz="255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Residents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4147" y="4971898"/>
            <a:ext cx="8921429" cy="83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19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Discover problems only after arriving. No clear picture of overall city conditions.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1735" y="6054776"/>
            <a:ext cx="9426235" cy="1827162"/>
            <a:chOff x="0" y="0"/>
            <a:chExt cx="12568314" cy="2436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68301" cy="2436241"/>
            </a:xfrm>
            <a:custGeom>
              <a:avLst/>
              <a:gdLst/>
              <a:ahLst/>
              <a:cxnLst/>
              <a:rect r="r" b="b" t="t" l="l"/>
              <a:pathLst>
                <a:path h="2436241" w="12568301">
                  <a:moveTo>
                    <a:pt x="0" y="0"/>
                  </a:moveTo>
                  <a:lnTo>
                    <a:pt x="12568301" y="0"/>
                  </a:lnTo>
                  <a:lnTo>
                    <a:pt x="12568301" y="2318385"/>
                  </a:lnTo>
                  <a:cubicBezTo>
                    <a:pt x="12568301" y="2383409"/>
                    <a:pt x="12515596" y="2436241"/>
                    <a:pt x="12450445" y="2436241"/>
                  </a:cubicBezTo>
                  <a:lnTo>
                    <a:pt x="117856" y="2436241"/>
                  </a:lnTo>
                  <a:cubicBezTo>
                    <a:pt x="52832" y="2436241"/>
                    <a:pt x="0" y="2383536"/>
                    <a:pt x="0" y="23183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EE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01735" y="6054776"/>
            <a:ext cx="9426235" cy="28575"/>
            <a:chOff x="0" y="0"/>
            <a:chExt cx="12568314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68301" cy="38100"/>
            </a:xfrm>
            <a:custGeom>
              <a:avLst/>
              <a:gdLst/>
              <a:ahLst/>
              <a:cxnLst/>
              <a:rect r="r" b="b" t="t" l="l"/>
              <a:pathLst>
                <a:path h="38100" w="1256830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49251" y="0"/>
                  </a:lnTo>
                  <a:cubicBezTo>
                    <a:pt x="12559792" y="0"/>
                    <a:pt x="12568301" y="8509"/>
                    <a:pt x="12568301" y="19050"/>
                  </a:cubicBezTo>
                  <a:cubicBezTo>
                    <a:pt x="12568301" y="29591"/>
                    <a:pt x="12559792" y="38100"/>
                    <a:pt x="125492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54147" y="6278613"/>
            <a:ext cx="8921429" cy="45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55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🏛️</a:t>
            </a:r>
            <a:r>
              <a:rPr lang="en-US" sz="255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City Officials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4147" y="6799059"/>
            <a:ext cx="8921429" cy="83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19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Must check multiple systems. Cross-source patterns stay hidden until manually escalated.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210" y="8144475"/>
            <a:ext cx="9445285" cy="1317279"/>
            <a:chOff x="0" y="0"/>
            <a:chExt cx="12593714" cy="17563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93701" cy="1756283"/>
            </a:xfrm>
            <a:custGeom>
              <a:avLst/>
              <a:gdLst/>
              <a:ahLst/>
              <a:cxnLst/>
              <a:rect r="r" b="b" t="t" l="l"/>
              <a:pathLst>
                <a:path h="1756283" w="12593701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12452350" y="0"/>
                  </a:lnTo>
                  <a:cubicBezTo>
                    <a:pt x="12530455" y="0"/>
                    <a:pt x="12593701" y="63246"/>
                    <a:pt x="12593701" y="141351"/>
                  </a:cubicBezTo>
                  <a:lnTo>
                    <a:pt x="12593701" y="1614932"/>
                  </a:lnTo>
                  <a:cubicBezTo>
                    <a:pt x="12593701" y="1693037"/>
                    <a:pt x="12530455" y="1756283"/>
                    <a:pt x="12452350" y="1756283"/>
                  </a:cubicBezTo>
                  <a:lnTo>
                    <a:pt x="141351" y="1756283"/>
                  </a:lnTo>
                  <a:cubicBezTo>
                    <a:pt x="63246" y="1756410"/>
                    <a:pt x="0" y="1693037"/>
                    <a:pt x="0" y="1614932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44622" y="8468763"/>
            <a:ext cx="315506" cy="252412"/>
            <a:chOff x="0" y="0"/>
            <a:chExt cx="420675" cy="33655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420624" cy="336550"/>
            </a:xfrm>
            <a:custGeom>
              <a:avLst/>
              <a:gdLst/>
              <a:ahLst/>
              <a:cxnLst/>
              <a:rect r="r" b="b" t="t" l="l"/>
              <a:pathLst>
                <a:path h="33655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336550"/>
                  </a:lnTo>
                  <a:lnTo>
                    <a:pt x="0" y="336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1" t="0" r="-383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812531" y="8365779"/>
            <a:ext cx="8372561" cy="83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19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Core challenge:</a:t>
            </a:r>
            <a:r>
              <a:rPr lang="en-US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How do we turn scattered civic feeds into one clear picture of city health?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10" y="809177"/>
            <a:ext cx="16303114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Introducing CityPulse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10" y="1392288"/>
            <a:ext cx="16303114" cy="69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41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One Dashboard. Multiple Signals. One City Pulse.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10" y="2280342"/>
            <a:ext cx="10472176" cy="5934370"/>
            <a:chOff x="0" y="0"/>
            <a:chExt cx="13962901" cy="791249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962887" cy="7912481"/>
            </a:xfrm>
            <a:custGeom>
              <a:avLst/>
              <a:gdLst/>
              <a:ahLst/>
              <a:cxnLst/>
              <a:rect r="r" b="b" t="t" l="l"/>
              <a:pathLst>
                <a:path h="7912481" w="13962887">
                  <a:moveTo>
                    <a:pt x="0" y="0"/>
                  </a:moveTo>
                  <a:lnTo>
                    <a:pt x="13962887" y="0"/>
                  </a:lnTo>
                  <a:lnTo>
                    <a:pt x="13962887" y="7912481"/>
                  </a:lnTo>
                  <a:lnTo>
                    <a:pt x="0" y="7912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2" r="0" b="-5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830498" y="5060899"/>
            <a:ext cx="5474208" cy="3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3"/>
              </a:lnSpc>
            </a:pPr>
            <a:r>
              <a:rPr lang="en-US" sz="1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CityPulse combines critical civic signals into a single live dashboard — replacing fragmented systems with a unified view of city health.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7260" y="8374561"/>
            <a:ext cx="7629334" cy="24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City Health Score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7260" y="8659416"/>
            <a:ext cx="7629334" cy="18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3"/>
              </a:lnSpc>
            </a:pPr>
            <a:r>
              <a:rPr lang="en-US" sz="1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Overall civic-health indicator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65846" y="8374561"/>
            <a:ext cx="7629487" cy="24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Ward-Level Insights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65846" y="8659416"/>
            <a:ext cx="7629487" cy="18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3"/>
              </a:lnSpc>
            </a:pPr>
            <a:r>
              <a:rPr lang="en-US" sz="1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Neighborhood breakdowns across the city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7260" y="8987285"/>
            <a:ext cx="7629334" cy="24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Live Feeds + Alerts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7260" y="9272140"/>
            <a:ext cx="7629334" cy="18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3"/>
              </a:lnSpc>
            </a:pPr>
            <a:r>
              <a:rPr lang="en-US" sz="1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Weather, transit, AQI, 311 complaints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65846" y="8987285"/>
            <a:ext cx="7629487" cy="24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Correlations &amp; Anomalies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65846" y="9272140"/>
            <a:ext cx="7629487" cy="18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3"/>
              </a:lnSpc>
            </a:pPr>
            <a:r>
              <a:rPr lang="en-US" sz="1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Cross-source pattern detection</a:t>
            </a:r>
          </a:p>
        </p:txBody>
      </p:sp>
      <p:grpSp>
        <p:nvGrpSpPr>
          <p:cNvPr name="Group 19" id="19"/>
          <p:cNvGrpSpPr/>
          <p:nvPr/>
        </p:nvGrpSpPr>
        <p:grpSpPr>
          <a:xfrm rot="-77635">
            <a:off x="3023953" y="2902784"/>
            <a:ext cx="6595909" cy="4147181"/>
            <a:chOff x="0" y="0"/>
            <a:chExt cx="8810432" cy="55395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810482" cy="5539613"/>
            </a:xfrm>
            <a:custGeom>
              <a:avLst/>
              <a:gdLst/>
              <a:ahLst/>
              <a:cxnLst/>
              <a:rect r="r" b="b" t="t" l="l"/>
              <a:pathLst>
                <a:path h="5539613" w="8810482">
                  <a:moveTo>
                    <a:pt x="0" y="0"/>
                  </a:moveTo>
                  <a:lnTo>
                    <a:pt x="8810482" y="0"/>
                  </a:lnTo>
                  <a:lnTo>
                    <a:pt x="8810482" y="5539613"/>
                  </a:lnTo>
                  <a:lnTo>
                    <a:pt x="0" y="553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793" t="0" r="-15792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42344" y="202349"/>
            <a:ext cx="6757921" cy="10070449"/>
            <a:chOff x="0" y="0"/>
            <a:chExt cx="9010561" cy="1342726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010523" cy="13427329"/>
            </a:xfrm>
            <a:custGeom>
              <a:avLst/>
              <a:gdLst/>
              <a:ahLst/>
              <a:cxnLst/>
              <a:rect r="r" b="b" t="t" l="l"/>
              <a:pathLst>
                <a:path h="13427329" w="9010523">
                  <a:moveTo>
                    <a:pt x="0" y="0"/>
                  </a:moveTo>
                  <a:lnTo>
                    <a:pt x="9010523" y="0"/>
                  </a:lnTo>
                  <a:lnTo>
                    <a:pt x="9010523" y="13427329"/>
                  </a:lnTo>
                  <a:lnTo>
                    <a:pt x="0" y="1342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9" r="0" b="-32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10" y="796681"/>
            <a:ext cx="9445285" cy="82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1"/>
              </a:lnSpc>
            </a:pPr>
            <a:r>
              <a:rPr lang="en-US" sz="50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Impact &amp; Future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10" y="1891160"/>
            <a:ext cx="9445285" cy="77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CityPulse transforms urban data into actionable intelligence, empowering both citizens and leaders to build a more responsive and resilient city.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447" y="2894257"/>
            <a:ext cx="9454810" cy="2706138"/>
            <a:chOff x="0" y="0"/>
            <a:chExt cx="12606414" cy="3608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06401" cy="3608197"/>
            </a:xfrm>
            <a:custGeom>
              <a:avLst/>
              <a:gdLst/>
              <a:ahLst/>
              <a:cxnLst/>
              <a:rect r="r" b="b" t="t" l="l"/>
              <a:pathLst>
                <a:path h="3608197" w="12606401">
                  <a:moveTo>
                    <a:pt x="0" y="136906"/>
                  </a:moveTo>
                  <a:cubicBezTo>
                    <a:pt x="0" y="61341"/>
                    <a:pt x="61341" y="0"/>
                    <a:pt x="136906" y="0"/>
                  </a:cubicBezTo>
                  <a:lnTo>
                    <a:pt x="12469495" y="0"/>
                  </a:lnTo>
                  <a:cubicBezTo>
                    <a:pt x="12545060" y="0"/>
                    <a:pt x="12606401" y="61341"/>
                    <a:pt x="12606401" y="136906"/>
                  </a:cubicBezTo>
                  <a:lnTo>
                    <a:pt x="12606401" y="3471291"/>
                  </a:lnTo>
                  <a:cubicBezTo>
                    <a:pt x="12606401" y="3546856"/>
                    <a:pt x="12545060" y="3608197"/>
                    <a:pt x="12469495" y="3608197"/>
                  </a:cubicBezTo>
                  <a:lnTo>
                    <a:pt x="136906" y="3608197"/>
                  </a:lnTo>
                  <a:cubicBezTo>
                    <a:pt x="61341" y="3608197"/>
                    <a:pt x="0" y="3546856"/>
                    <a:pt x="0" y="3471291"/>
                  </a:cubicBezTo>
                  <a:close/>
                </a:path>
              </a:pathLst>
            </a:custGeom>
            <a:solidFill>
              <a:srgbClr val="CCEEFF"/>
            </a:solidFill>
            <a:ln w="9525" cap="sq">
              <a:solidFill>
                <a:srgbClr val="B2D4E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45365" y="3152175"/>
            <a:ext cx="730872" cy="730891"/>
            <a:chOff x="0" y="0"/>
            <a:chExt cx="974496" cy="9745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4471" cy="974471"/>
            </a:xfrm>
            <a:custGeom>
              <a:avLst/>
              <a:gdLst/>
              <a:ahLst/>
              <a:cxnLst/>
              <a:rect r="r" b="b" t="t" l="l"/>
              <a:pathLst>
                <a:path h="974471" w="974471">
                  <a:moveTo>
                    <a:pt x="0" y="487299"/>
                  </a:moveTo>
                  <a:cubicBezTo>
                    <a:pt x="0" y="218186"/>
                    <a:pt x="218186" y="0"/>
                    <a:pt x="487299" y="0"/>
                  </a:cubicBezTo>
                  <a:cubicBezTo>
                    <a:pt x="756412" y="0"/>
                    <a:pt x="974471" y="218186"/>
                    <a:pt x="974471" y="487299"/>
                  </a:cubicBezTo>
                  <a:cubicBezTo>
                    <a:pt x="974471" y="756412"/>
                    <a:pt x="756412" y="974471"/>
                    <a:pt x="487299" y="974471"/>
                  </a:cubicBezTo>
                  <a:cubicBezTo>
                    <a:pt x="218186" y="974471"/>
                    <a:pt x="0" y="756412"/>
                    <a:pt x="0" y="487299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45365" y="4073281"/>
            <a:ext cx="8938993" cy="41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Residents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5365" y="4570066"/>
            <a:ext cx="8938993" cy="77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Make informed daily decisions and actively engage with civic health, improving quality of life.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7447" y="5800125"/>
            <a:ext cx="9454810" cy="2706138"/>
            <a:chOff x="0" y="0"/>
            <a:chExt cx="12606414" cy="3608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06401" cy="3608197"/>
            </a:xfrm>
            <a:custGeom>
              <a:avLst/>
              <a:gdLst/>
              <a:ahLst/>
              <a:cxnLst/>
              <a:rect r="r" b="b" t="t" l="l"/>
              <a:pathLst>
                <a:path h="3608197" w="12606401">
                  <a:moveTo>
                    <a:pt x="0" y="136906"/>
                  </a:moveTo>
                  <a:cubicBezTo>
                    <a:pt x="0" y="61341"/>
                    <a:pt x="61341" y="0"/>
                    <a:pt x="136906" y="0"/>
                  </a:cubicBezTo>
                  <a:lnTo>
                    <a:pt x="12469495" y="0"/>
                  </a:lnTo>
                  <a:cubicBezTo>
                    <a:pt x="12545060" y="0"/>
                    <a:pt x="12606401" y="61341"/>
                    <a:pt x="12606401" y="136906"/>
                  </a:cubicBezTo>
                  <a:lnTo>
                    <a:pt x="12606401" y="3471291"/>
                  </a:lnTo>
                  <a:cubicBezTo>
                    <a:pt x="12606401" y="3546856"/>
                    <a:pt x="12545060" y="3608197"/>
                    <a:pt x="12469495" y="3608197"/>
                  </a:cubicBezTo>
                  <a:lnTo>
                    <a:pt x="136906" y="3608197"/>
                  </a:lnTo>
                  <a:cubicBezTo>
                    <a:pt x="61341" y="3608197"/>
                    <a:pt x="0" y="3546856"/>
                    <a:pt x="0" y="3471291"/>
                  </a:cubicBezTo>
                  <a:close/>
                </a:path>
              </a:pathLst>
            </a:custGeom>
            <a:solidFill>
              <a:srgbClr val="CCEEFF"/>
            </a:solidFill>
            <a:ln w="9525" cap="sq">
              <a:solidFill>
                <a:srgbClr val="B2D4E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45365" y="6058052"/>
            <a:ext cx="730872" cy="730891"/>
            <a:chOff x="0" y="0"/>
            <a:chExt cx="974496" cy="9745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4471" cy="974471"/>
            </a:xfrm>
            <a:custGeom>
              <a:avLst/>
              <a:gdLst/>
              <a:ahLst/>
              <a:cxnLst/>
              <a:rect r="r" b="b" t="t" l="l"/>
              <a:pathLst>
                <a:path h="974471" w="974471">
                  <a:moveTo>
                    <a:pt x="0" y="487299"/>
                  </a:moveTo>
                  <a:cubicBezTo>
                    <a:pt x="0" y="218186"/>
                    <a:pt x="218186" y="0"/>
                    <a:pt x="487299" y="0"/>
                  </a:cubicBezTo>
                  <a:cubicBezTo>
                    <a:pt x="756412" y="0"/>
                    <a:pt x="974471" y="218186"/>
                    <a:pt x="974471" y="487299"/>
                  </a:cubicBezTo>
                  <a:cubicBezTo>
                    <a:pt x="974471" y="756412"/>
                    <a:pt x="756412" y="974471"/>
                    <a:pt x="487299" y="974471"/>
                  </a:cubicBezTo>
                  <a:cubicBezTo>
                    <a:pt x="218186" y="974471"/>
                    <a:pt x="0" y="756412"/>
                    <a:pt x="0" y="487299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5365" y="6979148"/>
            <a:ext cx="8938993" cy="41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Officials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5365" y="7475934"/>
            <a:ext cx="8938993" cy="77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Optimize resource allocation and respond proactively to urban challenges with data-driven precision.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10" y="8689334"/>
            <a:ext cx="9445285" cy="77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Our roadmap includes expanding data sources, predictive analytics, and AI-powered recommendations for urban planning.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10" y="760657"/>
            <a:ext cx="16303114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29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Technical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10" y="1386488"/>
            <a:ext cx="17217495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CityPulse is built on a robust, layered architecture designed for scalability, real-time data processing, and seamless integration of diverse civic data sources.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3877" y="1631604"/>
            <a:ext cx="14653060" cy="8300885"/>
            <a:chOff x="0" y="0"/>
            <a:chExt cx="19537413" cy="1106784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537426" cy="11067796"/>
            </a:xfrm>
            <a:custGeom>
              <a:avLst/>
              <a:gdLst/>
              <a:ahLst/>
              <a:cxnLst/>
              <a:rect r="r" b="b" t="t" l="l"/>
              <a:pathLst>
                <a:path h="11067796" w="19537426">
                  <a:moveTo>
                    <a:pt x="0" y="0"/>
                  </a:moveTo>
                  <a:lnTo>
                    <a:pt x="19537426" y="0"/>
                  </a:lnTo>
                  <a:lnTo>
                    <a:pt x="19537426" y="11067796"/>
                  </a:lnTo>
                  <a:lnTo>
                    <a:pt x="0" y="11067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5" t="0" r="-35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10" y="9945443"/>
            <a:ext cx="17217495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pipeline ensures that raw, fragmented data is transformed into actionable intelligence, presented intuitively to city officials and residents.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10" y="760657"/>
            <a:ext cx="16303114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29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Intelligent Detection &amp; Citizen Reporting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10" y="1386488"/>
            <a:ext cx="17217495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CityPulse actively uncovers patterns from integrated data and empowers residents to become active participants in maintaining a healthier city.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10" y="1688011"/>
            <a:ext cx="7978626" cy="29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17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Smart Correlation &amp; Anomaly Detection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5535" y="1999059"/>
            <a:ext cx="8111976" cy="8112176"/>
            <a:chOff x="0" y="0"/>
            <a:chExt cx="10815968" cy="1081623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815955" cy="10816209"/>
            </a:xfrm>
            <a:custGeom>
              <a:avLst/>
              <a:gdLst/>
              <a:ahLst/>
              <a:cxnLst/>
              <a:rect r="r" b="b" t="t" l="l"/>
              <a:pathLst>
                <a:path h="10816209" w="10815955">
                  <a:moveTo>
                    <a:pt x="0" y="0"/>
                  </a:moveTo>
                  <a:lnTo>
                    <a:pt x="10815955" y="0"/>
                  </a:lnTo>
                  <a:lnTo>
                    <a:pt x="10815955" y="10816209"/>
                  </a:lnTo>
                  <a:lnTo>
                    <a:pt x="0" y="10816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10" y="10124180"/>
            <a:ext cx="7978626" cy="340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Our platform continuously cross-references disparate data—from weather to 311 reports—to identify critical correlations and unusual events that might otherwise go unnoticed.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10" y="10528097"/>
            <a:ext cx="7978626" cy="3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0024" indent="-95012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Proactive problem identification</a:t>
            </a:r>
          </a:p>
          <a:p>
            <a:pPr algn="l" marL="190024" indent="-95012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Predictive insights for city planning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26232" y="1688011"/>
            <a:ext cx="7978626" cy="29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17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Seamless Citizen Complaint Submission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9557" y="1999059"/>
            <a:ext cx="8111976" cy="8112176"/>
            <a:chOff x="0" y="0"/>
            <a:chExt cx="10815968" cy="10816234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815955" cy="10816209"/>
            </a:xfrm>
            <a:custGeom>
              <a:avLst/>
              <a:gdLst/>
              <a:ahLst/>
              <a:cxnLst/>
              <a:rect r="r" b="b" t="t" l="l"/>
              <a:pathLst>
                <a:path h="10816209" w="10815955">
                  <a:moveTo>
                    <a:pt x="0" y="0"/>
                  </a:moveTo>
                  <a:lnTo>
                    <a:pt x="10815955" y="0"/>
                  </a:lnTo>
                  <a:lnTo>
                    <a:pt x="10815955" y="10816209"/>
                  </a:lnTo>
                  <a:lnTo>
                    <a:pt x="0" y="10816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326232" y="10124180"/>
            <a:ext cx="7978626" cy="340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Residents can effortlessly report issues directly through a user-friendly mobile interface. These submissions are instantly integrated into the CityPulse dashboard, ensuring real-time civic awareness.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26232" y="10528097"/>
            <a:ext cx="7978626" cy="3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0024" indent="-95012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Intuitive reporting process</a:t>
            </a:r>
          </a:p>
          <a:p>
            <a:pPr algn="l" marL="190024" indent="-95012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Direct feedback loop to city officials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363039" y="-66675"/>
            <a:ext cx="6991179" cy="10420350"/>
            <a:chOff x="0" y="0"/>
            <a:chExt cx="9321571" cy="13893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321546" cy="13893800"/>
            </a:xfrm>
            <a:custGeom>
              <a:avLst/>
              <a:gdLst/>
              <a:ahLst/>
              <a:cxnLst/>
              <a:rect r="r" b="b" t="t" l="l"/>
              <a:pathLst>
                <a:path h="13893800" w="9321546">
                  <a:moveTo>
                    <a:pt x="0" y="0"/>
                  </a:moveTo>
                  <a:lnTo>
                    <a:pt x="9321546" y="0"/>
                  </a:lnTo>
                  <a:lnTo>
                    <a:pt x="9321546" y="13893800"/>
                  </a:lnTo>
                  <a:lnTo>
                    <a:pt x="0" y="1389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8" r="0" b="-31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10" y="839838"/>
            <a:ext cx="9445285" cy="75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CityPulse: Key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10" y="1801416"/>
            <a:ext cx="9445285" cy="298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5"/>
              </a:lnSpc>
            </a:pPr>
            <a:r>
              <a:rPr lang="en-US" sz="615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Empowering Decisions with Comprehensive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10" y="4990205"/>
            <a:ext cx="9445285" cy="6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CityPulse provides a holistic view of urban dynamics, transforming raw data into actionable intelligence for residents and officials.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10" y="5837930"/>
            <a:ext cx="872852" cy="872881"/>
            <a:chOff x="0" y="0"/>
            <a:chExt cx="1163803" cy="116384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163828" cy="1163828"/>
            </a:xfrm>
            <a:custGeom>
              <a:avLst/>
              <a:gdLst/>
              <a:ahLst/>
              <a:cxnLst/>
              <a:rect r="r" b="b" t="t" l="l"/>
              <a:pathLst>
                <a:path h="1163828" w="1163828">
                  <a:moveTo>
                    <a:pt x="0" y="0"/>
                  </a:moveTo>
                  <a:lnTo>
                    <a:pt x="1163828" y="0"/>
                  </a:lnTo>
                  <a:lnTo>
                    <a:pt x="1163828" y="1163828"/>
                  </a:lnTo>
                  <a:lnTo>
                    <a:pt x="0" y="1163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072678" y="5809355"/>
            <a:ext cx="1929508" cy="74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75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City Health Score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72678" y="6602016"/>
            <a:ext cx="1929508" cy="219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dynamic, real-time indicator that aggregates data from all sources to provide an instant overview of civic well-being.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209793" y="5837930"/>
            <a:ext cx="872852" cy="872881"/>
            <a:chOff x="0" y="0"/>
            <a:chExt cx="1163803" cy="116384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163828" cy="1163828"/>
            </a:xfrm>
            <a:custGeom>
              <a:avLst/>
              <a:gdLst/>
              <a:ahLst/>
              <a:cxnLst/>
              <a:rect r="r" b="b" t="t" l="l"/>
              <a:pathLst>
                <a:path h="1163828" w="1163828">
                  <a:moveTo>
                    <a:pt x="0" y="0"/>
                  </a:moveTo>
                  <a:lnTo>
                    <a:pt x="1163828" y="0"/>
                  </a:lnTo>
                  <a:lnTo>
                    <a:pt x="1163828" y="1163828"/>
                  </a:lnTo>
                  <a:lnTo>
                    <a:pt x="0" y="1163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0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290261" y="5809355"/>
            <a:ext cx="1929508" cy="74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75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Ward-Level Breakdown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90261" y="6602016"/>
            <a:ext cx="1929508" cy="250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Analyze specific neighborhood conditions with granular data, enabling localized responses and resource optimization.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427376" y="5837930"/>
            <a:ext cx="872852" cy="872881"/>
            <a:chOff x="0" y="0"/>
            <a:chExt cx="1163803" cy="116384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163828" cy="1163828"/>
            </a:xfrm>
            <a:custGeom>
              <a:avLst/>
              <a:gdLst/>
              <a:ahLst/>
              <a:cxnLst/>
              <a:rect r="r" b="b" t="t" l="l"/>
              <a:pathLst>
                <a:path h="1163828" w="1163828">
                  <a:moveTo>
                    <a:pt x="0" y="0"/>
                  </a:moveTo>
                  <a:lnTo>
                    <a:pt x="1163828" y="0"/>
                  </a:lnTo>
                  <a:lnTo>
                    <a:pt x="1163828" y="1163828"/>
                  </a:lnTo>
                  <a:lnTo>
                    <a:pt x="0" y="1163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0" b="-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507844" y="5809355"/>
            <a:ext cx="1929660" cy="74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75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Live Feeds &amp; Alerts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07844" y="6602016"/>
            <a:ext cx="1929660" cy="280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Access continuous updates on weather, transit, air quality, and 311 requests, with instant notifications for critical events.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527" y="9087"/>
            <a:ext cx="18238946" cy="1887664"/>
            <a:chOff x="0" y="0"/>
            <a:chExt cx="24318595" cy="251688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18595" cy="2516886"/>
            </a:xfrm>
            <a:custGeom>
              <a:avLst/>
              <a:gdLst/>
              <a:ahLst/>
              <a:cxnLst/>
              <a:rect r="r" b="b" t="t" l="l"/>
              <a:pathLst>
                <a:path h="2516886" w="24318595">
                  <a:moveTo>
                    <a:pt x="0" y="0"/>
                  </a:moveTo>
                  <a:lnTo>
                    <a:pt x="24318595" y="0"/>
                  </a:lnTo>
                  <a:lnTo>
                    <a:pt x="24318595" y="2516886"/>
                  </a:lnTo>
                  <a:lnTo>
                    <a:pt x="0" y="2516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31" t="0" r="-313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10" y="2532612"/>
            <a:ext cx="16303114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29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How CityPulse 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10" y="3123009"/>
            <a:ext cx="17217495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CityPulse transforms disparate data sources into a cohesive, actionable vision for urban management.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10" y="3372745"/>
            <a:ext cx="14630038" cy="8229600"/>
            <a:chOff x="0" y="0"/>
            <a:chExt cx="19506717" cy="109728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9506692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6692">
                  <a:moveTo>
                    <a:pt x="0" y="0"/>
                  </a:moveTo>
                  <a:lnTo>
                    <a:pt x="19506692" y="0"/>
                  </a:lnTo>
                  <a:lnTo>
                    <a:pt x="19506692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363039" y="-66675"/>
            <a:ext cx="6991179" cy="10420350"/>
            <a:chOff x="0" y="0"/>
            <a:chExt cx="9321571" cy="13893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321546" cy="13893800"/>
            </a:xfrm>
            <a:custGeom>
              <a:avLst/>
              <a:gdLst/>
              <a:ahLst/>
              <a:cxnLst/>
              <a:rect r="r" b="b" t="t" l="l"/>
              <a:pathLst>
                <a:path h="13893800" w="9321546">
                  <a:moveTo>
                    <a:pt x="0" y="0"/>
                  </a:moveTo>
                  <a:lnTo>
                    <a:pt x="9321546" y="0"/>
                  </a:lnTo>
                  <a:lnTo>
                    <a:pt x="9321546" y="13893800"/>
                  </a:lnTo>
                  <a:lnTo>
                    <a:pt x="0" y="1389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8" r="0" b="-31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10" y="3881885"/>
            <a:ext cx="9672676" cy="96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5"/>
              </a:lnSpc>
            </a:pPr>
            <a:r>
              <a:rPr lang="en-US" sz="72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DAHWKIXcAG0</dc:identifier>
  <dcterms:modified xsi:type="dcterms:W3CDTF">2011-08-01T06:04:30Z</dcterms:modified>
  <cp:revision>1</cp:revision>
</cp:coreProperties>
</file>